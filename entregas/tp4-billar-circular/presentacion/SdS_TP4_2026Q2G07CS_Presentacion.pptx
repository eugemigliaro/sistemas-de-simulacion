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'1.0' encoding='utf-8'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presProps" Target="presProps.xml" /><Relationship Id="rId3" Type="http://schemas.openxmlformats.org/officeDocument/2006/relationships/viewProps" Target="viewProps.xml" /><Relationship Id="rId4" Type="http://schemas.openxmlformats.org/officeDocument/2006/relationships/theme" Target="theme/theme1.xml" /><Relationship Id="rId5" Type="http://schemas.openxmlformats.org/officeDocument/2006/relationships/tableStyles" Target="tableStyles.xml" /><Relationship Id="rId7" Type="http://schemas.openxmlformats.org/officeDocument/2006/relationships/slide" Target="slides/slide1.xml" /><Relationship Id="rId8" Type="http://schemas.openxmlformats.org/officeDocument/2006/relationships/slide" Target="slides/slide2.xml" /><Relationship Id="rId9" Type="http://schemas.openxmlformats.org/officeDocument/2006/relationships/slide" Target="slides/slide3.xml" /><Relationship Id="rId10" Type="http://schemas.openxmlformats.org/officeDocument/2006/relationships/slide" Target="slides/slide4.xml" /><Relationship Id="rId11" Type="http://schemas.openxmlformats.org/officeDocument/2006/relationships/slide" Target="slides/slide5.xml" /><Relationship Id="rId12" Type="http://schemas.openxmlformats.org/officeDocument/2006/relationships/slide" Target="slides/slide6.xml" /><Relationship Id="rId13" Type="http://schemas.openxmlformats.org/officeDocument/2006/relationships/slide" Target="slides/slide7.xml" /><Relationship Id="rId14" Type="http://schemas.openxmlformats.org/officeDocument/2006/relationships/slide" Target="slides/slide8.xml" /><Relationship Id="rId15" Type="http://schemas.openxmlformats.org/officeDocument/2006/relationships/slide" Target="slides/slide9.xml" /><Relationship Id="rId16" Type="http://schemas.openxmlformats.org/officeDocument/2006/relationships/slide" Target="slides/slide10.xml" /><Relationship Id="rId17" Type="http://schemas.openxmlformats.org/officeDocument/2006/relationships/slide" Target="slides/slide11.xml" /><Relationship Id="rId18" Type="http://schemas.openxmlformats.org/officeDocument/2006/relationships/slide" Target="slides/slide12.xml" /><Relationship Id="rId19" Type="http://schemas.openxmlformats.org/officeDocument/2006/relationships/slide" Target="slides/slide13.xml" /><Relationship Id="rId20" Type="http://schemas.openxmlformats.org/officeDocument/2006/relationships/slide" Target="slides/slide14.xml" /><Relationship Id="rId21" Type="http://schemas.openxmlformats.org/officeDocument/2006/relationships/slide" Target="slides/slide15.xml" /><Relationship Id="rId22" Type="http://schemas.openxmlformats.org/officeDocument/2006/relationships/slide" Target="slides/slide16.xml" /><Relationship Id="rId23" Type="http://schemas.openxmlformats.org/officeDocument/2006/relationships/slide" Target="slides/slide17.xml" /><Relationship Id="rId24" Type="http://schemas.openxmlformats.org/officeDocument/2006/relationships/slide" Target="slides/slide18.xml" /><Relationship Id="rId25" Type="http://schemas.openxmlformats.org/officeDocument/2006/relationships/slide" Target="slides/slide19.xml" /><Relationship Id="rId26" Type="http://schemas.openxmlformats.org/officeDocument/2006/relationships/slide" Target="slides/slide20.xml" /><Relationship Id="rId27" Type="http://schemas.openxmlformats.org/officeDocument/2006/relationships/slide" Target="slides/slide21.xml" /><Relationship Id="rId28" Type="http://schemas.openxmlformats.org/officeDocument/2006/relationships/slide" Target="slides/slide22.xml" /><Relationship Id="rId29" Type="http://schemas.openxmlformats.org/officeDocument/2006/relationships/slide" Target="slides/slide23.xml" /><Relationship Id="rId30" Type="http://schemas.openxmlformats.org/officeDocument/2006/relationships/slide" Target="slides/slide24.xml" /><Relationship Id="rId31" Type="http://schemas.openxmlformats.org/officeDocument/2006/relationships/slide" Target="slides/slide25.xml" /><Relationship Id="rId32" Type="http://schemas.openxmlformats.org/officeDocument/2006/relationships/slide" Target="slides/slide26.xml" /><Relationship Id="rId33" Type="http://schemas.openxmlformats.org/officeDocument/2006/relationships/slide" Target="slides/slide27.xml" /><Relationship Id="rId34" Type="http://schemas.openxmlformats.org/officeDocument/2006/relationships/slide" Target="slides/slide28.xml" /><Relationship Id="rId35" Type="http://schemas.openxmlformats.org/officeDocument/2006/relationships/slide" Target="slides/slide29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.png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.png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3.png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4.png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5.png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6.png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7.png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8.png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9.png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0.png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1.png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2.png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3.png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4.png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5.png" /><Relationship Id="rId3" Type="http://schemas.microsoft.com/office/2007/relationships/media" Target="../media/rendimiento.mp4" /><Relationship Id="rId4" Type="http://schemas.openxmlformats.org/officeDocument/2006/relationships/video" Target="../media/rendimiento.mp4" /><Relationship Id="rId5" Type="http://schemas.openxmlformats.org/officeDocument/2006/relationships/image" Target="../media/rendimiento-poster.png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6.png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7.png" /><Relationship Id="rId3" Type="http://schemas.microsoft.com/office/2007/relationships/media" Target="../media/posicion.mp4" /><Relationship Id="rId4" Type="http://schemas.openxmlformats.org/officeDocument/2006/relationships/video" Target="../media/posicion.mp4" /><Relationship Id="rId5" Type="http://schemas.openxmlformats.org/officeDocument/2006/relationships/image" Target="../media/posicion-poster.png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8.png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19.png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0.png" /><Relationship Id="rId3" Type="http://schemas.microsoft.com/office/2007/relationships/media" Target="../media/rapidez.mp4" /><Relationship Id="rId4" Type="http://schemas.openxmlformats.org/officeDocument/2006/relationships/video" Target="../media/rapidez.mp4" /><Relationship Id="rId5" Type="http://schemas.openxmlformats.org/officeDocument/2006/relationships/image" Target="../media/rapidez-poster.png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1.png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2.png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3.png" /><Relationship Id="rId3" Type="http://schemas.microsoft.com/office/2007/relationships/media" Target="../media/densidad.mp4" /><Relationship Id="rId4" Type="http://schemas.openxmlformats.org/officeDocument/2006/relationships/video" Target="../media/densidad.mp4" /><Relationship Id="rId5" Type="http://schemas.openxmlformats.org/officeDocument/2006/relationships/image" Target="../media/densidad-poster.png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4.png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5.png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6.png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7.png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8.png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29.png" 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3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4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5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nfiguración Config"/>
          <p:cNvSpPr/>
          <p:nvPr/>
        </p:nvSpPr>
        <p:spPr>
          <a:xfrm>
            <a:off x="4572000" y="1428750"/>
            <a:ext cx="3048000" cy="6667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Configuración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Config</a:t>
            </a:r>
          </a:p>
        </p:txBody>
      </p:sp>
      <p:sp>
        <p:nvSpPr>
          <p:cNvPr id="4" name="Inicialización generate()"/>
          <p:cNvSpPr/>
          <p:nvPr/>
        </p:nvSpPr>
        <p:spPr>
          <a:xfrm>
            <a:off x="666750" y="3000375"/>
            <a:ext cx="2667000" cy="6667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Inicialización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generate()</a:t>
            </a:r>
          </a:p>
        </p:txBody>
      </p:sp>
      <p:sp>
        <p:nvSpPr>
          <p:cNvPr id="5" name="Integración con Verlet simulate()"/>
          <p:cNvSpPr/>
          <p:nvPr/>
        </p:nvSpPr>
        <p:spPr>
          <a:xfrm>
            <a:off x="4572000" y="3000375"/>
            <a:ext cx="3048000" cy="6667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Integración con Verlet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simulate()</a:t>
            </a:r>
          </a:p>
        </p:txBody>
      </p:sp>
      <p:sp>
        <p:nvSpPr>
          <p:cNvPr id="6" name="Fuerzas de contacto forces()"/>
          <p:cNvSpPr/>
          <p:nvPr/>
        </p:nvSpPr>
        <p:spPr>
          <a:xfrm>
            <a:off x="8858250" y="3000375"/>
            <a:ext cx="2667000" cy="6667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Fuerzas de contacto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forces()</a:t>
            </a:r>
          </a:p>
        </p:txBody>
      </p:sp>
      <p:sp>
        <p:nvSpPr>
          <p:cNvPr id="7" name="Partícula Particle"/>
          <p:cNvSpPr/>
          <p:nvPr/>
        </p:nvSpPr>
        <p:spPr>
          <a:xfrm>
            <a:off x="2381250" y="4667250"/>
            <a:ext cx="2857500" cy="6667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Partícula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Particle</a:t>
            </a:r>
          </a:p>
        </p:txBody>
      </p:sp>
      <p:sp>
        <p:nvSpPr>
          <p:cNvPr id="8" name="Resultado de fuerzas ForceResult"/>
          <p:cNvSpPr/>
          <p:nvPr/>
        </p:nvSpPr>
        <p:spPr>
          <a:xfrm>
            <a:off x="6953250" y="4667250"/>
            <a:ext cx="2857500" cy="6667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Resultado de fuerzas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ForceResult</a:t>
            </a:r>
          </a:p>
        </p:txBody>
      </p:sp>
      <p:sp>
        <p:nvSpPr>
          <p:cNvPr id="9" name="Vector 2D Vec"/>
          <p:cNvSpPr/>
          <p:nvPr/>
        </p:nvSpPr>
        <p:spPr>
          <a:xfrm>
            <a:off x="4667250" y="5857875"/>
            <a:ext cx="2857500" cy="619125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Vector 2D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Vec</a:t>
            </a:r>
          </a:p>
        </p:txBody>
      </p:sp>
      <p:sp>
        <p:nvSpPr>
          <p:cNvPr id="10" name="Flecha discontinua: dependencia Rombo: composición"/>
          <p:cNvSpPr/>
          <p:nvPr/>
        </p:nvSpPr>
        <p:spPr>
          <a:xfrm>
            <a:off x="333375" y="1476375"/>
            <a:ext cx="3714750" cy="8572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575">
                <a:solidFill>
                  <a:srgbClr val="005B91"/>
                </a:solidFill>
                <a:latin typeface="Arial"/>
              </a:rPr>
              <a:t>Flecha discontinua: dependencia</a:t>
            </a:r>
          </a:p>
          <a:p>
            <a:pPr algn="ctr"/>
            <a:r>
              <a:rPr lang="es-AR" sz="1575">
                <a:solidFill>
                  <a:srgbClr val="005B91"/>
                </a:solidFill>
                <a:latin typeface="Arial"/>
              </a:rPr>
              <a:t>Rombo: composición</a:t>
            </a:r>
          </a:p>
        </p:txBody>
      </p:sp>
      <p:sp>
        <p:nvSpPr>
          <p:cNvPr id="11" name="usa"/>
          <p:cNvSpPr/>
          <p:nvPr/>
        </p:nvSpPr>
        <p:spPr>
          <a:xfrm>
            <a:off x="6191250" y="2371725"/>
            <a:ext cx="762000" cy="3238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usa</a:t>
            </a:r>
          </a:p>
        </p:txBody>
      </p:sp>
      <p:sp>
        <p:nvSpPr>
          <p:cNvPr id="12" name="llama"/>
          <p:cNvSpPr/>
          <p:nvPr/>
        </p:nvSpPr>
        <p:spPr>
          <a:xfrm>
            <a:off x="7620000" y="2914650"/>
            <a:ext cx="1238250" cy="3238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llama</a:t>
            </a:r>
          </a:p>
        </p:txBody>
      </p:sp>
      <p:sp>
        <p:nvSpPr>
          <p:cNvPr id="13" name="crea"/>
          <p:cNvSpPr/>
          <p:nvPr/>
        </p:nvSpPr>
        <p:spPr>
          <a:xfrm>
            <a:off x="1095375" y="4105275"/>
            <a:ext cx="762000" cy="3238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crea</a:t>
            </a:r>
          </a:p>
        </p:txBody>
      </p:sp>
      <p:sp>
        <p:nvSpPr>
          <p:cNvPr id="14" name="actualiza"/>
          <p:cNvSpPr/>
          <p:nvPr/>
        </p:nvSpPr>
        <p:spPr>
          <a:xfrm>
            <a:off x="3714750" y="3857625"/>
            <a:ext cx="1333500" cy="3238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actualiza</a:t>
            </a:r>
          </a:p>
        </p:txBody>
      </p:sp>
      <p:sp>
        <p:nvSpPr>
          <p:cNvPr id="15" name="usa"/>
          <p:cNvSpPr/>
          <p:nvPr/>
        </p:nvSpPr>
        <p:spPr>
          <a:xfrm>
            <a:off x="7239000" y="3857625"/>
            <a:ext cx="762000" cy="3238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usa</a:t>
            </a:r>
          </a:p>
        </p:txBody>
      </p:sp>
      <p:sp>
        <p:nvSpPr>
          <p:cNvPr id="16" name="devuelve"/>
          <p:cNvSpPr/>
          <p:nvPr/>
        </p:nvSpPr>
        <p:spPr>
          <a:xfrm>
            <a:off x="10287000" y="4105275"/>
            <a:ext cx="1428750" cy="3238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devuelve</a:t>
            </a:r>
          </a:p>
        </p:txBody>
      </p:sp>
      <p:sp>
        <p:nvSpPr>
          <p:cNvPr id="17" name="contiene"/>
          <p:cNvSpPr/>
          <p:nvPr/>
        </p:nvSpPr>
        <p:spPr>
          <a:xfrm>
            <a:off x="2543175" y="5457825"/>
            <a:ext cx="1238250" cy="3238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contiene</a:t>
            </a:r>
          </a:p>
        </p:txBody>
      </p:sp>
      <p:sp>
        <p:nvSpPr>
          <p:cNvPr id="18" name="contiene"/>
          <p:cNvSpPr/>
          <p:nvPr/>
        </p:nvSpPr>
        <p:spPr>
          <a:xfrm>
            <a:off x="8429625" y="5457825"/>
            <a:ext cx="1238250" cy="3238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contiene</a:t>
            </a:r>
          </a:p>
        </p:txBody>
      </p:sp>
      <p:cxnSp>
        <p:nvCxnSpPr>
          <p:cNvPr id="19" name="Relación UML"/>
          <p:cNvCxnSpPr/>
          <p:nvPr/>
        </p:nvCxnSpPr>
        <p:spPr>
          <a:xfrm flipV="1">
            <a:off x="6096000" y="2095500"/>
            <a:ext cx="0" cy="904875"/>
          </a:xfrm>
          <a:prstGeom prst="line">
            <a:avLst/>
          </a:prstGeom>
          <a:ln w="19050">
            <a:solidFill>
              <a:srgbClr val="005B91"/>
            </a:solidFill>
            <a:prstDash val="dash"/>
            <a:tailEnd type="arrow" w="med" len="med"/>
          </a:ln>
        </p:spPr>
      </p:cxnSp>
      <p:cxnSp>
        <p:nvCxnSpPr>
          <p:cNvPr id="20" name="Relación UML"/>
          <p:cNvCxnSpPr/>
          <p:nvPr/>
        </p:nvCxnSpPr>
        <p:spPr>
          <a:xfrm>
            <a:off x="7620000" y="3333750"/>
            <a:ext cx="1238250" cy="0"/>
          </a:xfrm>
          <a:prstGeom prst="line">
            <a:avLst/>
          </a:prstGeom>
          <a:ln w="19050">
            <a:solidFill>
              <a:srgbClr val="005B91"/>
            </a:solidFill>
            <a:prstDash val="dash"/>
            <a:tailEnd type="arrow" w="med" len="med"/>
          </a:ln>
        </p:spPr>
      </p:cxnSp>
      <p:cxnSp>
        <p:nvCxnSpPr>
          <p:cNvPr id="21" name="Relación UML"/>
          <p:cNvCxnSpPr/>
          <p:nvPr/>
        </p:nvCxnSpPr>
        <p:spPr>
          <a:xfrm>
            <a:off x="2000250" y="3667125"/>
            <a:ext cx="0" cy="1333500"/>
          </a:xfrm>
          <a:prstGeom prst="line">
            <a:avLst/>
          </a:prstGeom>
          <a:ln w="19050">
            <a:solidFill>
              <a:srgbClr val="005B91"/>
            </a:solidFill>
            <a:prstDash val="dash"/>
          </a:ln>
        </p:spPr>
      </p:cxnSp>
      <p:cxnSp>
        <p:nvCxnSpPr>
          <p:cNvPr id="22" name="Relación UML"/>
          <p:cNvCxnSpPr/>
          <p:nvPr/>
        </p:nvCxnSpPr>
        <p:spPr>
          <a:xfrm>
            <a:off x="2000250" y="5000625"/>
            <a:ext cx="381000" cy="0"/>
          </a:xfrm>
          <a:prstGeom prst="line">
            <a:avLst/>
          </a:prstGeom>
          <a:ln w="19050">
            <a:solidFill>
              <a:srgbClr val="005B91"/>
            </a:solidFill>
            <a:prstDash val="dash"/>
            <a:tailEnd type="arrow" w="med" len="med"/>
          </a:ln>
        </p:spPr>
      </p:cxnSp>
      <p:cxnSp>
        <p:nvCxnSpPr>
          <p:cNvPr id="23" name="Relación UML"/>
          <p:cNvCxnSpPr/>
          <p:nvPr/>
        </p:nvCxnSpPr>
        <p:spPr>
          <a:xfrm>
            <a:off x="5334000" y="3667125"/>
            <a:ext cx="0" cy="571500"/>
          </a:xfrm>
          <a:prstGeom prst="line">
            <a:avLst/>
          </a:prstGeom>
          <a:ln w="19050">
            <a:solidFill>
              <a:srgbClr val="005B91"/>
            </a:solidFill>
            <a:prstDash val="dash"/>
          </a:ln>
        </p:spPr>
      </p:cxnSp>
      <p:cxnSp>
        <p:nvCxnSpPr>
          <p:cNvPr id="24" name="Relación UML"/>
          <p:cNvCxnSpPr/>
          <p:nvPr/>
        </p:nvCxnSpPr>
        <p:spPr>
          <a:xfrm flipH="1">
            <a:off x="3810000" y="4238625"/>
            <a:ext cx="1524000" cy="0"/>
          </a:xfrm>
          <a:prstGeom prst="line">
            <a:avLst/>
          </a:prstGeom>
          <a:ln w="19050">
            <a:solidFill>
              <a:srgbClr val="005B91"/>
            </a:solidFill>
            <a:prstDash val="dash"/>
          </a:ln>
        </p:spPr>
      </p:cxnSp>
      <p:cxnSp>
        <p:nvCxnSpPr>
          <p:cNvPr id="25" name="Relación UML"/>
          <p:cNvCxnSpPr/>
          <p:nvPr/>
        </p:nvCxnSpPr>
        <p:spPr>
          <a:xfrm>
            <a:off x="3810000" y="4238625"/>
            <a:ext cx="0" cy="428625"/>
          </a:xfrm>
          <a:prstGeom prst="line">
            <a:avLst/>
          </a:prstGeom>
          <a:ln w="19050">
            <a:solidFill>
              <a:srgbClr val="005B91"/>
            </a:solidFill>
            <a:prstDash val="dash"/>
            <a:tailEnd type="arrow" w="med" len="med"/>
          </a:ln>
        </p:spPr>
      </p:cxnSp>
      <p:cxnSp>
        <p:nvCxnSpPr>
          <p:cNvPr id="26" name="Relación UML"/>
          <p:cNvCxnSpPr/>
          <p:nvPr/>
        </p:nvCxnSpPr>
        <p:spPr>
          <a:xfrm>
            <a:off x="6858000" y="3667125"/>
            <a:ext cx="0" cy="571500"/>
          </a:xfrm>
          <a:prstGeom prst="line">
            <a:avLst/>
          </a:prstGeom>
          <a:ln w="19050">
            <a:solidFill>
              <a:srgbClr val="005B91"/>
            </a:solidFill>
            <a:prstDash val="dash"/>
          </a:ln>
        </p:spPr>
      </p:cxnSp>
      <p:cxnSp>
        <p:nvCxnSpPr>
          <p:cNvPr id="27" name="Relación UML"/>
          <p:cNvCxnSpPr/>
          <p:nvPr/>
        </p:nvCxnSpPr>
        <p:spPr>
          <a:xfrm>
            <a:off x="6858000" y="4238625"/>
            <a:ext cx="1524000" cy="0"/>
          </a:xfrm>
          <a:prstGeom prst="line">
            <a:avLst/>
          </a:prstGeom>
          <a:ln w="19050">
            <a:solidFill>
              <a:srgbClr val="005B91"/>
            </a:solidFill>
            <a:prstDash val="dash"/>
          </a:ln>
        </p:spPr>
      </p:cxnSp>
      <p:cxnSp>
        <p:nvCxnSpPr>
          <p:cNvPr id="28" name="Relación UML"/>
          <p:cNvCxnSpPr/>
          <p:nvPr/>
        </p:nvCxnSpPr>
        <p:spPr>
          <a:xfrm>
            <a:off x="8382000" y="4238625"/>
            <a:ext cx="0" cy="428625"/>
          </a:xfrm>
          <a:prstGeom prst="line">
            <a:avLst/>
          </a:prstGeom>
          <a:ln w="19050">
            <a:solidFill>
              <a:srgbClr val="005B91"/>
            </a:solidFill>
            <a:prstDash val="dash"/>
            <a:tailEnd type="arrow" w="med" len="med"/>
          </a:ln>
        </p:spPr>
      </p:cxnSp>
      <p:cxnSp>
        <p:nvCxnSpPr>
          <p:cNvPr id="29" name="Relación UML"/>
          <p:cNvCxnSpPr/>
          <p:nvPr/>
        </p:nvCxnSpPr>
        <p:spPr>
          <a:xfrm>
            <a:off x="10191750" y="3667125"/>
            <a:ext cx="0" cy="1333500"/>
          </a:xfrm>
          <a:prstGeom prst="line">
            <a:avLst/>
          </a:prstGeom>
          <a:ln w="19050">
            <a:solidFill>
              <a:srgbClr val="005B91"/>
            </a:solidFill>
            <a:prstDash val="dash"/>
          </a:ln>
        </p:spPr>
      </p:cxnSp>
      <p:cxnSp>
        <p:nvCxnSpPr>
          <p:cNvPr id="30" name="Relación UML"/>
          <p:cNvCxnSpPr/>
          <p:nvPr/>
        </p:nvCxnSpPr>
        <p:spPr>
          <a:xfrm flipH="1">
            <a:off x="9810750" y="5000625"/>
            <a:ext cx="381000" cy="0"/>
          </a:xfrm>
          <a:prstGeom prst="line">
            <a:avLst/>
          </a:prstGeom>
          <a:ln w="19050">
            <a:solidFill>
              <a:srgbClr val="005B91"/>
            </a:solidFill>
            <a:prstDash val="dash"/>
            <a:tailEnd type="arrow" w="med" len="med"/>
          </a:ln>
        </p:spPr>
      </p:cxnSp>
      <p:cxnSp>
        <p:nvCxnSpPr>
          <p:cNvPr id="31" name="Relación UML"/>
          <p:cNvCxnSpPr/>
          <p:nvPr/>
        </p:nvCxnSpPr>
        <p:spPr>
          <a:xfrm>
            <a:off x="3810000" y="5334000"/>
            <a:ext cx="0" cy="828675"/>
          </a:xfrm>
          <a:prstGeom prst="line">
            <a:avLst/>
          </a:prstGeom>
          <a:ln w="19050">
            <a:solidFill>
              <a:srgbClr val="005B91"/>
            </a:solidFill>
          </a:ln>
        </p:spPr>
      </p:cxnSp>
      <p:cxnSp>
        <p:nvCxnSpPr>
          <p:cNvPr id="32" name="Relación UML"/>
          <p:cNvCxnSpPr/>
          <p:nvPr/>
        </p:nvCxnSpPr>
        <p:spPr>
          <a:xfrm>
            <a:off x="3810000" y="6162675"/>
            <a:ext cx="857250" cy="0"/>
          </a:xfrm>
          <a:prstGeom prst="line">
            <a:avLst/>
          </a:prstGeom>
          <a:ln w="19050">
            <a:solidFill>
              <a:srgbClr val="005B91"/>
            </a:solidFill>
          </a:ln>
        </p:spPr>
      </p:cxnSp>
      <p:sp>
        <p:nvSpPr>
          <p:cNvPr id="33" name=""/>
          <p:cNvSpPr/>
          <p:nvPr/>
        </p:nvSpPr>
        <p:spPr>
          <a:xfrm>
            <a:off x="3752850" y="5334000"/>
            <a:ext cx="114300" cy="190500"/>
          </a:xfrm>
          <a:prstGeom prst="diamond">
            <a:avLst/>
          </a:prstGeom>
          <a:solidFill>
            <a:srgbClr val="005B91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2025">
                <a:solidFill>
                  <a:srgbClr val="005B91"/>
                </a:solidFill>
                <a:latin typeface="Arial"/>
              </a:rPr>
              <a:t/>
            </a:r>
          </a:p>
        </p:txBody>
      </p:sp>
      <p:cxnSp>
        <p:nvCxnSpPr>
          <p:cNvPr id="34" name="Relación UML"/>
          <p:cNvCxnSpPr/>
          <p:nvPr/>
        </p:nvCxnSpPr>
        <p:spPr>
          <a:xfrm>
            <a:off x="8382000" y="5334000"/>
            <a:ext cx="0" cy="828675"/>
          </a:xfrm>
          <a:prstGeom prst="line">
            <a:avLst/>
          </a:prstGeom>
          <a:ln w="19050">
            <a:solidFill>
              <a:srgbClr val="005B91"/>
            </a:solidFill>
          </a:ln>
        </p:spPr>
      </p:cxnSp>
      <p:cxnSp>
        <p:nvCxnSpPr>
          <p:cNvPr id="35" name="Relación UML"/>
          <p:cNvCxnSpPr/>
          <p:nvPr/>
        </p:nvCxnSpPr>
        <p:spPr>
          <a:xfrm flipH="1">
            <a:off x="7524750" y="6162675"/>
            <a:ext cx="857250" cy="0"/>
          </a:xfrm>
          <a:prstGeom prst="line">
            <a:avLst/>
          </a:prstGeom>
          <a:ln w="19050">
            <a:solidFill>
              <a:srgbClr val="005B91"/>
            </a:solidFill>
          </a:ln>
        </p:spPr>
      </p:cxnSp>
      <p:sp>
        <p:nvSpPr>
          <p:cNvPr id="36" name=""/>
          <p:cNvSpPr/>
          <p:nvPr/>
        </p:nvSpPr>
        <p:spPr>
          <a:xfrm>
            <a:off x="8324850" y="5334000"/>
            <a:ext cx="114300" cy="190500"/>
          </a:xfrm>
          <a:prstGeom prst="diamond">
            <a:avLst/>
          </a:prstGeom>
          <a:solidFill>
            <a:srgbClr val="005B91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2025">
                <a:solidFill>
                  <a:srgbClr val="005B91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6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Inicializar sin solapamientos r₀, v₀ y r₋₁"/>
          <p:cNvSpPr/>
          <p:nvPr/>
        </p:nvSpPr>
        <p:spPr>
          <a:xfrm>
            <a:off x="857250" y="1476375"/>
            <a:ext cx="5381625" cy="6286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Inicializar sin solapamientos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r₀, v₀ y r₋₁</a:t>
            </a:r>
          </a:p>
        </p:txBody>
      </p:sp>
      <p:sp>
        <p:nvSpPr>
          <p:cNvPr id="4" name="Fuerzas por contactos Registrar la primera conversión"/>
          <p:cNvSpPr/>
          <p:nvPr/>
        </p:nvSpPr>
        <p:spPr>
          <a:xfrm>
            <a:off x="857250" y="2409825"/>
            <a:ext cx="5381625" cy="6286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Fuerzas por contactos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Registrar la primera conversión</a:t>
            </a:r>
          </a:p>
        </p:txBody>
      </p:sp>
      <p:sp>
        <p:nvSpPr>
          <p:cNvPr id="5" name="Verlet: posición y velocidad"/>
          <p:cNvSpPr/>
          <p:nvPr/>
        </p:nvSpPr>
        <p:spPr>
          <a:xfrm>
            <a:off x="857250" y="3343275"/>
            <a:ext cx="5381625" cy="5524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Verlet: posición y velocidad</a:t>
            </a:r>
          </a:p>
        </p:txBody>
      </p:sp>
      <p:sp>
        <p:nvSpPr>
          <p:cNvPr id="6" name="Guardar estado cada n pasos"/>
          <p:cNvSpPr/>
          <p:nvPr/>
        </p:nvSpPr>
        <p:spPr>
          <a:xfrm>
            <a:off x="857250" y="4200525"/>
            <a:ext cx="5381625" cy="5524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Guardar estado cada n pasos</a:t>
            </a:r>
          </a:p>
        </p:txBody>
      </p:sp>
      <p:sp>
        <p:nvSpPr>
          <p:cNvPr id="7" name="¿t = t final?"/>
          <p:cNvSpPr/>
          <p:nvPr/>
        </p:nvSpPr>
        <p:spPr>
          <a:xfrm>
            <a:off x="2362200" y="5133975"/>
            <a:ext cx="2381250" cy="952500"/>
          </a:xfrm>
          <a:prstGeom prst="diamond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725">
                <a:solidFill>
                  <a:srgbClr val="005B91"/>
                </a:solidFill>
                <a:latin typeface="Arial"/>
              </a:rPr>
              <a:t>¿t = t final?</a:t>
            </a:r>
          </a:p>
        </p:txBody>
      </p:sp>
      <p:sp>
        <p:nvSpPr>
          <p:cNvPr id="8" name="Fin"/>
          <p:cNvSpPr/>
          <p:nvPr/>
        </p:nvSpPr>
        <p:spPr>
          <a:xfrm>
            <a:off x="8382000" y="5334000"/>
            <a:ext cx="2286000" cy="552450"/>
          </a:xfrm>
          <a:prstGeom prst="round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875">
                <a:solidFill>
                  <a:srgbClr val="005B91"/>
                </a:solidFill>
                <a:latin typeface="Arial"/>
              </a:rPr>
              <a:t>Fin</a:t>
            </a:r>
          </a:p>
        </p:txBody>
      </p:sp>
      <p:sp>
        <p:nvSpPr>
          <p:cNvPr id="9" name="Avanzar un paso"/>
          <p:cNvSpPr/>
          <p:nvPr/>
        </p:nvSpPr>
        <p:spPr>
          <a:xfrm>
            <a:off x="619125" y="5334000"/>
            <a:ext cx="1571625" cy="552450"/>
          </a:xfrm>
          <a:prstGeom prst="rect">
            <a:avLst/>
          </a:prstGeom>
          <a:solidFill>
            <a:srgbClr val="E8F3F9"/>
          </a:solidFill>
          <a:ln w="19050">
            <a:solidFill>
              <a:srgbClr val="005B91"/>
            </a:solidFill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Avanzar</a:t>
            </a:r>
          </a:p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un paso</a:t>
            </a:r>
          </a:p>
        </p:txBody>
      </p:sp>
      <p:sp>
        <p:nvSpPr>
          <p:cNvPr id="10" name="No"/>
          <p:cNvSpPr/>
          <p:nvPr/>
        </p:nvSpPr>
        <p:spPr>
          <a:xfrm>
            <a:off x="1809750" y="4953000"/>
            <a:ext cx="666750" cy="333375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650">
                <a:solidFill>
                  <a:srgbClr val="005B91"/>
                </a:solidFill>
                <a:latin typeface="Arial"/>
              </a:rPr>
              <a:t>No</a:t>
            </a:r>
          </a:p>
        </p:txBody>
      </p:sp>
      <p:sp>
        <p:nvSpPr>
          <p:cNvPr id="11" name="Sí"/>
          <p:cNvSpPr/>
          <p:nvPr/>
        </p:nvSpPr>
        <p:spPr>
          <a:xfrm>
            <a:off x="6477000" y="5238750"/>
            <a:ext cx="762000" cy="36195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725">
                <a:solidFill>
                  <a:srgbClr val="005B91"/>
                </a:solidFill>
                <a:latin typeface="Arial"/>
              </a:rPr>
              <a:t>Sí</a:t>
            </a:r>
          </a:p>
        </p:txBody>
      </p:sp>
      <p:sp>
        <p:nvSpPr>
          <p:cNvPr id="12" name="Grilla de celdas de ancho 2r Imagen de pared en cada paso"/>
          <p:cNvSpPr/>
          <p:nvPr/>
        </p:nvSpPr>
        <p:spPr>
          <a:xfrm>
            <a:off x="7048500" y="1666875"/>
            <a:ext cx="4667250" cy="95250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Grilla de celdas de ancho 2r</a:t>
            </a:r>
          </a:p>
          <a:p>
            <a:pPr algn="ctr"/>
            <a:r>
              <a:rPr lang="es-AR" sz="1800">
                <a:solidFill>
                  <a:srgbClr val="005B91"/>
                </a:solidFill>
                <a:latin typeface="Arial"/>
              </a:rPr>
              <a:t>Imagen de pared en cada paso</a:t>
            </a:r>
          </a:p>
        </p:txBody>
      </p:sp>
      <p:sp>
        <p:nvSpPr>
          <p:cNvPr id="13" name="rₙ₊₁ = 2rₙ − rₙ₋₁ + h²Fₙ/m"/>
          <p:cNvSpPr/>
          <p:nvPr/>
        </p:nvSpPr>
        <p:spPr>
          <a:xfrm>
            <a:off x="7048500" y="3095625"/>
            <a:ext cx="4667250" cy="57150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875">
                <a:solidFill>
                  <a:srgbClr val="005B91"/>
                </a:solidFill>
                <a:latin typeface="Arial"/>
              </a:rPr>
              <a:t>rₙ₊₁ = 2rₙ − rₙ₋₁ + h²Fₙ/m</a:t>
            </a:r>
          </a:p>
        </p:txBody>
      </p:sp>
      <p:sp>
        <p:nvSpPr>
          <p:cNvPr id="14" name="vₙ = (rₙ₊₁ − rₙ₋₁)/(2h)"/>
          <p:cNvSpPr/>
          <p:nvPr/>
        </p:nvSpPr>
        <p:spPr>
          <a:xfrm>
            <a:off x="7048500" y="3762375"/>
            <a:ext cx="4667250" cy="571500"/>
          </a:xfrm>
          <a:prstGeom prst="rect">
            <a:avLst/>
          </a:prstGeom>
          <a:noFill/>
          <a:ln w="19050">
            <a:noFill/>
          </a:ln>
        </p:spPr>
        <p:txBody>
          <a:bodyPr anchor="ctr" lIns="100000" rIns="100000" tIns="60000" bIns="60000"/>
          <a:lstStyle/>
          <a:p>
            <a:pPr algn="ctr"/>
            <a:r>
              <a:rPr lang="es-AR" sz="1875">
                <a:solidFill>
                  <a:srgbClr val="005B91"/>
                </a:solidFill>
                <a:latin typeface="Arial"/>
              </a:rPr>
              <a:t>vₙ = (rₙ₊₁ − rₙ₋₁)/(2h)</a:t>
            </a:r>
          </a:p>
        </p:txBody>
      </p:sp>
      <p:cxnSp>
        <p:nvCxnSpPr>
          <p:cNvPr id="15" name="Flujo"/>
          <p:cNvCxnSpPr/>
          <p:nvPr/>
        </p:nvCxnSpPr>
        <p:spPr>
          <a:xfrm>
            <a:off x="3552825" y="2105025"/>
            <a:ext cx="0" cy="304800"/>
          </a:xfrm>
          <a:prstGeom prst="line">
            <a:avLst/>
          </a:prstGeom>
          <a:ln w="19050">
            <a:solidFill>
              <a:srgbClr val="005B91"/>
            </a:solidFill>
            <a:tailEnd type="triangle" w="med" len="med"/>
          </a:ln>
        </p:spPr>
      </p:cxnSp>
      <p:cxnSp>
        <p:nvCxnSpPr>
          <p:cNvPr id="16" name="Flujo"/>
          <p:cNvCxnSpPr/>
          <p:nvPr/>
        </p:nvCxnSpPr>
        <p:spPr>
          <a:xfrm>
            <a:off x="3552825" y="3038475"/>
            <a:ext cx="0" cy="304800"/>
          </a:xfrm>
          <a:prstGeom prst="line">
            <a:avLst/>
          </a:prstGeom>
          <a:ln w="19050">
            <a:solidFill>
              <a:srgbClr val="005B91"/>
            </a:solidFill>
            <a:tailEnd type="triangle" w="med" len="med"/>
          </a:ln>
        </p:spPr>
      </p:cxnSp>
      <p:cxnSp>
        <p:nvCxnSpPr>
          <p:cNvPr id="17" name="Flujo"/>
          <p:cNvCxnSpPr/>
          <p:nvPr/>
        </p:nvCxnSpPr>
        <p:spPr>
          <a:xfrm>
            <a:off x="3552825" y="3895725"/>
            <a:ext cx="0" cy="304800"/>
          </a:xfrm>
          <a:prstGeom prst="line">
            <a:avLst/>
          </a:prstGeom>
          <a:ln w="19050">
            <a:solidFill>
              <a:srgbClr val="005B91"/>
            </a:solidFill>
            <a:tailEnd type="triangle" w="med" len="med"/>
          </a:ln>
        </p:spPr>
      </p:cxnSp>
      <p:cxnSp>
        <p:nvCxnSpPr>
          <p:cNvPr id="18" name="Flujo"/>
          <p:cNvCxnSpPr/>
          <p:nvPr/>
        </p:nvCxnSpPr>
        <p:spPr>
          <a:xfrm>
            <a:off x="3552825" y="4752975"/>
            <a:ext cx="0" cy="381000"/>
          </a:xfrm>
          <a:prstGeom prst="line">
            <a:avLst/>
          </a:prstGeom>
          <a:ln w="19050">
            <a:solidFill>
              <a:srgbClr val="005B91"/>
            </a:solidFill>
            <a:tailEnd type="triangle" w="med" len="med"/>
          </a:ln>
        </p:spPr>
      </p:cxnSp>
      <p:cxnSp>
        <p:nvCxnSpPr>
          <p:cNvPr id="19" name="Flujo"/>
          <p:cNvCxnSpPr/>
          <p:nvPr/>
        </p:nvCxnSpPr>
        <p:spPr>
          <a:xfrm>
            <a:off x="4743450" y="5610225"/>
            <a:ext cx="3638550" cy="0"/>
          </a:xfrm>
          <a:prstGeom prst="line">
            <a:avLst/>
          </a:prstGeom>
          <a:ln w="19050">
            <a:solidFill>
              <a:srgbClr val="005B91"/>
            </a:solidFill>
            <a:tailEnd type="triangle" w="med" len="med"/>
          </a:ln>
        </p:spPr>
      </p:cxnSp>
      <p:cxnSp>
        <p:nvCxnSpPr>
          <p:cNvPr id="20" name="Flujo"/>
          <p:cNvCxnSpPr/>
          <p:nvPr/>
        </p:nvCxnSpPr>
        <p:spPr>
          <a:xfrm flipH="1">
            <a:off x="2190750" y="5610225"/>
            <a:ext cx="171450" cy="0"/>
          </a:xfrm>
          <a:prstGeom prst="line">
            <a:avLst/>
          </a:prstGeom>
          <a:ln w="19050">
            <a:solidFill>
              <a:srgbClr val="005B91"/>
            </a:solidFill>
            <a:tailEnd type="triangle" w="med" len="med"/>
          </a:ln>
        </p:spPr>
      </p:cxnSp>
      <p:cxnSp>
        <p:nvCxnSpPr>
          <p:cNvPr id="21" name="Flujo"/>
          <p:cNvCxnSpPr/>
          <p:nvPr/>
        </p:nvCxnSpPr>
        <p:spPr>
          <a:xfrm flipH="1">
            <a:off x="381000" y="5610225"/>
            <a:ext cx="238125" cy="0"/>
          </a:xfrm>
          <a:prstGeom prst="line">
            <a:avLst/>
          </a:prstGeom>
          <a:ln w="19050">
            <a:solidFill>
              <a:srgbClr val="005B91"/>
            </a:solidFill>
          </a:ln>
        </p:spPr>
      </p:cxnSp>
      <p:cxnSp>
        <p:nvCxnSpPr>
          <p:cNvPr id="22" name="Flujo"/>
          <p:cNvCxnSpPr/>
          <p:nvPr/>
        </p:nvCxnSpPr>
        <p:spPr>
          <a:xfrm flipV="1">
            <a:off x="381000" y="2724150"/>
            <a:ext cx="0" cy="2886075"/>
          </a:xfrm>
          <a:prstGeom prst="line">
            <a:avLst/>
          </a:prstGeom>
          <a:ln w="19050">
            <a:solidFill>
              <a:srgbClr val="005B91"/>
            </a:solidFill>
          </a:ln>
        </p:spPr>
      </p:cxnSp>
      <p:cxnSp>
        <p:nvCxnSpPr>
          <p:cNvPr id="23" name="Flujo"/>
          <p:cNvCxnSpPr/>
          <p:nvPr/>
        </p:nvCxnSpPr>
        <p:spPr>
          <a:xfrm>
            <a:off x="381000" y="2724150"/>
            <a:ext cx="476250" cy="0"/>
          </a:xfrm>
          <a:prstGeom prst="line">
            <a:avLst/>
          </a:prstGeom>
          <a:ln w="19050">
            <a:solidFill>
              <a:srgbClr val="005B91"/>
            </a:solidFill>
            <a:tailEnd type="triangle" w="med" len="me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7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8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9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0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1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2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3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4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5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rendimiento.mp4">
            <a:hlinkClick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ns3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50900" y="1727200"/>
            <a:ext cx="7715250" cy="3321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6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7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osicion.mp4">
            <a:hlinkClick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ns3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62000" y="1917700"/>
            <a:ext cx="7899400" cy="28384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8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19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0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rapidez.mp4">
            <a:hlinkClick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ns3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781300" y="1727200"/>
            <a:ext cx="3860800" cy="3321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1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2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ns3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3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densidad.mp4">
            <a:hlinkClick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ns3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50900" y="1727200"/>
            <a:ext cx="7715250" cy="3321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4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5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6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7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8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4 diapositiva 29; fuente editable Beam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LaTeX Beamer y ensamblado OOXML</Application>
  <PresentationFormat>On-screen Show (16:9)</PresentationFormat>
  <Slides>29</Slides>
  <Notes>0</Notes>
</Properties>
</file>

<file path=docProps/core.xml><?xml version="1.0" encoding="utf-8"?>
<cp:coreProperties xmlns:cp="http://schemas.openxmlformats.org/package/2006/metadata/core-properties" xmlns:dc="http://purl.org/dc/elements/1.1/">
  <dc:title>TP4 - Dinámica molecular por paso temporal</dc:title>
  <dc:creator>Grupo 07 - Comisión S</dc:creator>
  <dc:description>Borrador para revisión; asistencia de IA declarada en la última diapositiva.</dc:description>
</cp:coreProperties>
</file>